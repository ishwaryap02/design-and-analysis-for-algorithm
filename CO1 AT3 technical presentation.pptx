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Alice" panose="020B0604020202020204" charset="0"/>
      <p:regular r:id="rId13"/>
    </p:embeddedFont>
    <p:embeddedFont>
      <p:font typeface="Lora" panose="020F0502020204030204" pitchFamily="2" charset="0"/>
      <p:regular r:id="rId14"/>
    </p:embeddedFont>
    <p:embeddedFont>
      <p:font typeface="Lora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85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9551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0932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Asymptotic Analysis of Stack Operations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07903"/>
            <a:ext cx="4722763" cy="1226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 and Analysis of Algorithms (DAA) — Presented by: 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Ishwarya P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Register No: 192524445 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Department: AI &amp; 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8217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537767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  A stack is a linear data structure that follows LIFO (Last In, First Out): the last element inserted is the first removed.     We will analyze the efficiency of the two fundamental operations:   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377678"/>
            <a:ext cx="2290465" cy="1043657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6" name="Text 3"/>
          <p:cNvSpPr/>
          <p:nvPr/>
        </p:nvSpPr>
        <p:spPr>
          <a:xfrm>
            <a:off x="4066877" y="2519437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Push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6877" y="2825948"/>
            <a:ext cx="20069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Insert an element at the top of the stack.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377678"/>
            <a:ext cx="2290539" cy="1043657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9" name="Text 6"/>
          <p:cNvSpPr/>
          <p:nvPr/>
        </p:nvSpPr>
        <p:spPr>
          <a:xfrm>
            <a:off x="6499101" y="2519437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Pop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9101" y="2825948"/>
            <a:ext cx="20070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Remove and return the top element.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925119" y="3580805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Objectives: define operations &amp; assumptions, analyze running time with asymptotic notation, prove constant-time behavior, compare with other structures, and demonstrate with diagrams and examples.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86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Assumptions &amp; Implementation Models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93677"/>
            <a:ext cx="3902943" cy="2211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893094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 assumptions used throughout the analysis: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49701" y="2247454"/>
            <a:ext cx="39029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stack currently holds n elements.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Two common implementations considered: fixed-size array and singly linked list.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Sufficient memory exists for insertion (no costly allocation delays).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Overflow and underflow checks are assumed to run in constant time.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939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Algorithm Overview — Push &amp; Pop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98972"/>
            <a:ext cx="3483992" cy="1974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19885" y="1170236"/>
            <a:ext cx="274662" cy="171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319885" y="1384548"/>
            <a:ext cx="4332684" cy="1905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6" name="Text 3"/>
          <p:cNvSpPr/>
          <p:nvPr/>
        </p:nvSpPr>
        <p:spPr>
          <a:xfrm>
            <a:off x="4319885" y="1491258"/>
            <a:ext cx="433268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Push(x)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319885" y="1838771"/>
            <a:ext cx="4332684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1) Check overflow (array) / allocate node (list). 2) Increment top pointer / link new node. 3) Place value at top.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319885" y="2507382"/>
            <a:ext cx="274662" cy="171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19885" y="2721694"/>
            <a:ext cx="4332684" cy="1905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0" name="Text 7"/>
          <p:cNvSpPr/>
          <p:nvPr/>
        </p:nvSpPr>
        <p:spPr>
          <a:xfrm>
            <a:off x="4319885" y="2828404"/>
            <a:ext cx="433268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Pop()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319885" y="3175918"/>
            <a:ext cx="4332684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1) Check underflow. 2) Read top value. 3) Decrement top pointer / unlink node. 4) Return value.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19885" y="3861197"/>
            <a:ext cx="4332684" cy="740718"/>
          </a:xfrm>
          <a:prstGeom prst="roundRect">
            <a:avLst>
              <a:gd name="adj" fmla="val 2781"/>
            </a:avLst>
          </a:prstGeom>
          <a:solidFill>
            <a:srgbClr val="D7F4E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179" y="4069779"/>
            <a:ext cx="171599" cy="1372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66072" y="4015234"/>
            <a:ext cx="3749204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Each operation performs a fixed sequence of steps independent of 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3393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Pseudocode (Reference)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889522"/>
            <a:ext cx="4722763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  PUSH(Stack, item): if Top == MAX-1 → report overflow; else Top = Top + 1; Stack[Top] = item.   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  POP(Stack): if Top == -1 → report underflow; else item = Stack[Top]; Top = Top - 1; return item.   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115717"/>
            <a:ext cx="4722763" cy="793775"/>
          </a:xfrm>
          <a:prstGeom prst="roundRect">
            <a:avLst>
              <a:gd name="adj" fmla="val 2679"/>
            </a:avLst>
          </a:prstGeom>
          <a:solidFill>
            <a:srgbClr val="D7F4E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877" y="3316486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5816" y="3292897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Observation: both pseudocode blocks execute a constant number of simple operations.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373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Dry Run — Visual Example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5932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Initial: [10, 20, 30] (Top → 30). Push(40) → [10, 20, 30, 40] (Top → 40). Pop() removes 40 → [10, 20, 30]. Time taken for each operation: constant (no traversal or resizing steps assumed).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505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Asymptotic Complexity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0108"/>
            <a:ext cx="3478039" cy="26388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24796" y="1548185"/>
            <a:ext cx="4784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      Formal bounds for both operations:       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324796" y="1902544"/>
            <a:ext cx="432777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Big-O (upper bound): O(1)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Big-Theta (tight bound): Θ(1)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Big-Omega (lower bound): Ω(1)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324796" y="2809652"/>
            <a:ext cx="43277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Reason: a fixed number of comparisons, pointer changes, and memory assignments — independent of 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704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Comparison with Other Structures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02097"/>
            <a:ext cx="3478039" cy="3194893"/>
          </a:xfrm>
          <a:prstGeom prst="roundRect">
            <a:avLst>
              <a:gd name="adj" fmla="val 66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2169319"/>
            <a:ext cx="3478039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807345"/>
            <a:ext cx="3478039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3445371"/>
            <a:ext cx="3478039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856583"/>
            <a:ext cx="3478039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01030" y="1306860"/>
            <a:ext cx="1040532" cy="862459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642789" y="1396678"/>
            <a:ext cx="121421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Operation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83321" y="1396678"/>
            <a:ext cx="9714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81039" y="1396678"/>
            <a:ext cx="5142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Array 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78758" y="1396678"/>
            <a:ext cx="54887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Linked List (head)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789" y="2261518"/>
            <a:ext cx="75701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Insert at End / Top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83321" y="2261518"/>
            <a:ext cx="9714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O(1)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81039" y="2261518"/>
            <a:ext cx="9714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O(1)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78758" y="2261518"/>
            <a:ext cx="100607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O(1)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789" y="2899544"/>
            <a:ext cx="75701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Remove Top/End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83321" y="2899544"/>
            <a:ext cx="9714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O(1)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81039" y="2899544"/>
            <a:ext cx="9714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O(1)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78758" y="2899544"/>
            <a:ext cx="100607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O(1)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789" y="3537570"/>
            <a:ext cx="121421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Search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83321" y="3537570"/>
            <a:ext cx="9714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O(n)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81039" y="3537570"/>
            <a:ext cx="9714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O(n)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78758" y="3537570"/>
            <a:ext cx="100607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O(n)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2789" y="3948782"/>
            <a:ext cx="75701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Access Middle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83321" y="3948782"/>
            <a:ext cx="5142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Not allowed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81039" y="3948782"/>
            <a:ext cx="9714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O(1)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78758" y="3948782"/>
            <a:ext cx="100607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O(n)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24796" y="1270174"/>
            <a:ext cx="4784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Why stacks are efficient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24796" y="1624533"/>
            <a:ext cx="432777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traversal required for push/pop.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Only the top element is accessed — constant-time pointer/index updates.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Simpler control flow reduces overhead and improves cache behavior (array-backed).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24796" y="3017193"/>
            <a:ext cx="4327773" cy="779562"/>
          </a:xfrm>
          <a:prstGeom prst="roundRect">
            <a:avLst>
              <a:gd name="adj" fmla="val 2728"/>
            </a:avLst>
          </a:prstGeom>
          <a:solidFill>
            <a:srgbClr val="D7F4E4"/>
          </a:solidFill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555" y="3232249"/>
            <a:ext cx="177180" cy="141759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4785494" y="3180159"/>
            <a:ext cx="372531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 stacks when you need fast last-in, first-out access (e.g., call stacks, parsing, backtracking).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148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Applications &amp; Practical Notes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81" y="1197843"/>
            <a:ext cx="2639616" cy="263961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2118" y="1197843"/>
            <a:ext cx="2639690" cy="263969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429" y="1197843"/>
            <a:ext cx="2639690" cy="263969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96119" y="4081909"/>
            <a:ext cx="8151763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Common uses: function-call management, recursion, expression evaluation, parentheses matching, undo/redo, browser navigation, DFS and backtracking. Practical considerations: array-backed stacks are memory-contiguous (better cache), linked-list stacks avoid fixed-size limits but incur per-node allocation overhead.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825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Results, Takeaways &amp; References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096194"/>
            <a:ext cx="392184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      Results: Empirical tests and dry runs show push and pop times remain flat as n increases — consistent with O(1).       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730800" y="1107430"/>
            <a:ext cx="392184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30800" y="1417141"/>
            <a:ext cx="3921844" cy="13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Thomas H. Cormen et al., Introduction to Algorithms (CLRS), 4th Ed.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Ellis Horowitz, Fundamentals of Data Structures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Mark Allen Weiss, Data Structures &amp; Algorithm Analysis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Robert Sedgewick &amp; Kevin Wayne, Algorithms, 4th Ed.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Lecture Notes — Design and Analysis of Algorithms (DAA)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30800" y="2821186"/>
            <a:ext cx="3921844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Final note: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For classroom demonstrations, run timed loops for push/pop across varying n and plot execution time — expect a near-horizontal line indicating constant-time complexity.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1947677"/>
            <a:ext cx="4019624" cy="1089943"/>
          </a:xfrm>
          <a:prstGeom prst="roundRect">
            <a:avLst>
              <a:gd name="adj" fmla="val 1738"/>
            </a:avLst>
          </a:prstGeom>
          <a:solidFill>
            <a:srgbClr val="F0EDE6"/>
          </a:solidFill>
          <a:ln/>
        </p:spPr>
      </p:sp>
      <p:sp>
        <p:nvSpPr>
          <p:cNvPr id="8" name="Text 6"/>
          <p:cNvSpPr/>
          <p:nvPr/>
        </p:nvSpPr>
        <p:spPr>
          <a:xfrm>
            <a:off x="573435" y="2068561"/>
            <a:ext cx="376721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2325" y="2390054"/>
            <a:ext cx="3767212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Stacks provide constant-time push/pop. Best for LIFO access patterns. Implementation choice affects memory and allocation costs, not asymptotic time.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389" y="3747939"/>
            <a:ext cx="376728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783</Words>
  <Application>Microsoft Office PowerPoint</Application>
  <PresentationFormat>On-screen Show (16:9)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Alice</vt:lpstr>
      <vt:lpstr>Arial</vt:lpstr>
      <vt:lpstr>Lora</vt:lpstr>
      <vt:lpstr>Lora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ishwariya p</cp:lastModifiedBy>
  <cp:revision>2</cp:revision>
  <dcterms:created xsi:type="dcterms:W3CDTF">2026-07-20T02:49:42Z</dcterms:created>
  <dcterms:modified xsi:type="dcterms:W3CDTF">2026-07-20T05:28:48Z</dcterms:modified>
</cp:coreProperties>
</file>